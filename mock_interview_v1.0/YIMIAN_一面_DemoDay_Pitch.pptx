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 · 约20s】各位评委好，我们是【团队名】。我们是第八组“一面”模拟面试官开发团队。今天带来的产品叫「一面」——一台可自定义主题的 AI 模拟面试官。它用一块桌面硬件，把面试训练变成一场真正完整的面试：AI 出题、你作答、它看你、最后一起复盘。一句话：一场面试，一面镜子。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【问题 · 约50s】面试是我们人生里最重要的“一次性表演”，但准备方式一直很原始。找人陪练，考官和场景凑不齐；自己练，练完没有任何反馈；最关键的是——紧张、小动作、表情这些临场问题，你自己根本看不见。市面上 AI 陪聊很多，但都只覆盖“内容”，没有人告诉你“你看起来怎么样”。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【洞察 · 约40s】真实面试官其实只考两件事：你说了什么，和你怎么表现。左边是内容，右边是临场。传统练习只练了左边。我们的洞察是：只有把这两件事放进同一场面试、一起采集、一起复盘，才称得上一次有效的面试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【产品 · 约50s】「一面」是一台有眼睛、有耳朵、有嘴巴的桌面面试官。麦克风听你回答，摄像头看你表现，扬声器替你提问，LCD 实时显示你的画面，帮你建立镜头感。背后是完整 AI 链路：自动出题、语音转写、大模型点评。整个系统固件、Host、Web 三件套，一条命令就能复现。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【流程 · 约60s｜配合演示】现场演示四步。第一步，按住 BOOT 说出面试主题，比如 Java 后端开发；第二步，AI 连问两道题，你按键回答，语音实时转写；第三步，摄像头每 2.5 秒采一帧，记录你的临场表现；第四步，两道题答完，系统把内容质量和表现趋势合成一段语音总结。整个过程是同一场 session，题目、回答、画面一起进入最终复盘。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【成品 · 约40s】这是我们的成品实拍。可以看到它是一个完整的桌面设备，不是开发板裸奔。重点是实用性：固件已经烧录验证，BLE 语音、JPEG 画面、控制指令全链路跑通，Host 和网页界面都是可运行交付件，一条命令就能复现。今天评委可以现场直接体验。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【创新1 · 约50s】第一个创新：同时评价“说了什么”和“怎么表现”。回答质量看相关性、准确性、完整性、清晰度、语气词和时长；临场表现看表情自然度、动作幅度和紧张趋势。一份复盘，双重视角，更接近真实面试官的综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【创新2 · 约45s】第二个创新：用连续画面判断状态，而不是某一张照片。面试全程每 2.5 秒采一帧，结束后按时间顺序做多帧趋势分析。我们关注的是“是不是逐渐紧张”“动作是不是越来越多”，而不是因为某一刻眨眼、转头就下结论。这样判断更稳，也更公平。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【创新3 · 约45s】第三个创新：反馈可以验证。总结会引用你真正说过的话，比如“这个回答缺少量化结果和明确结论”，然后给出可执行的改法：先用一句话概括结论，再补一个数字和一个例子。每条建议都落在原话上，改哪里、怎么改，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【架构 · 约40s】这背后是完整的 Agent for the real world 架构。硬件是感官和表达：麦克风、摄像头、扬声器、LCD。数据通过 BLE 到网页，再到本地 Python Host，接入实时 ASR、DeepSeek 出题点评、云 TTS 和视觉模型。这正是 Agent for the real world 的落地：Agent 不再停留在聊天框里，而是有耳朵、有眼睛、有嘴巴、有表情，真正进入现实场景帮人解决一个具体问题。同时强调实用性——整套系统今天就能跑、能演示、能复现。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【扩展 · 约30s】更重要的是可扩展性。同一套系统，只要替换主题和评价维度，就能变成技术面、产品面、英语口语、演讲排练、论文答辩、客服培训、销售话术的专用训练器。一个硬件底座，覆盖整个表达训练市场。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【收尾 · 约30s】今天它已经是一个完整可用的 MVP，明天我们计划加入随机 3 到 5 题、历史记录与趋势曲线、人体关键点模型、Wi-Fi 传输和鉴权部署。最后回到名字和我们的初衷：「一面」——让每个认真准备的人，都能先和“真实的自己”见一面。这也是 Agent for the real world 的意义：用看得见、听得懂、能落地的硬件 Agent，解决一个真实的问题。谢谢各位评委，欢迎现场体验！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6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9.jpeg"/><Relationship Id="rId13" Type="http://schemas.openxmlformats.org/officeDocument/2006/relationships/image" Target="../media/image8.jpeg"/><Relationship Id="rId12" Type="http://schemas.openxmlformats.org/officeDocument/2006/relationships/tags" Target="../tags/tag8.xml"/><Relationship Id="rId11" Type="http://schemas.openxmlformats.org/officeDocument/2006/relationships/image" Target="../media/image7.jpeg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圆角矩形 6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oundRect">
            <a:avLst>
              <a:gd name="adj" fmla="val 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4287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DEMO DAY · 硬件组 · 2026</a:t>
            </a:r>
            <a:endParaRPr sz="1200" b="1">
              <a:solidFill>
                <a:srgbClr val="3D8D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1905000"/>
            <a:ext cx="9525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00" b="1">
                <a:solidFill>
                  <a:srgbClr val="14161A"/>
                </a:solidFill>
              </a:defRPr>
            </a:pPr>
            <a:r>
              <a:rPr sz="6300" b="1">
                <a:solidFill>
                  <a:srgbClr val="14161A"/>
                </a:solidFill>
              </a:rPr>
              <a:t>一面 YIMIAN</a:t>
            </a:r>
            <a:endParaRPr sz="6300" b="1">
              <a:solidFill>
                <a:srgbClr val="14161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3200400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0">
                <a:solidFill>
                  <a:srgbClr val="5C6672"/>
                </a:solidFill>
              </a:defRPr>
            </a:pPr>
            <a:r>
              <a:rPr sz="2550" b="0">
                <a:solidFill>
                  <a:srgbClr val="5C6672"/>
                </a:solidFill>
              </a:rPr>
              <a:t>可自定义主题的 AI 模拟面试官</a:t>
            </a:r>
            <a:endParaRPr sz="2550" b="0">
              <a:solidFill>
                <a:srgbClr val="5C667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40005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一场面试，一面镜子——看见真实的自己</a:t>
            </a:r>
            <a:endParaRPr sz="1650" b="1">
              <a:solidFill>
                <a:srgbClr val="3D8D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533400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硬件 · 语音 · 视觉 · 大模型    |    第八组 · “一面”模拟面试官开发团队</a:t>
            </a:r>
            <a:endParaRPr sz="1350" b="0">
              <a:solidFill>
                <a:srgbClr val="5C6672"/>
              </a:solidFill>
            </a:endParaRPr>
          </a:p>
        </p:txBody>
      </p:sp>
      <p:pic>
        <p:nvPicPr>
          <p:cNvPr id="8" name="图片 7" descr="微信图片_20260829031637_112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1268730"/>
            <a:ext cx="5160645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PROBLEM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面试是最重要的“一次性表演”，但没人陪你练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01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847850"/>
            <a:ext cx="10820400" cy="1028700"/>
          </a:xfrm>
          <a:prstGeom prst="roundRect">
            <a:avLst>
              <a:gd name="adj" fmla="val 148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2057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找不到考官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24384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C6672"/>
                </a:solidFill>
              </a:defRPr>
            </a:pPr>
            <a:r>
              <a:rPr sz="1275" b="0">
                <a:solidFill>
                  <a:srgbClr val="5C6672"/>
                </a:solidFill>
              </a:rPr>
              <a:t>没有真实的提问节奏和追问，练着练着就变成了聊天。</a:t>
            </a:r>
            <a:endParaRPr sz="1275" b="0">
              <a:solidFill>
                <a:srgbClr val="5C6672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3067050"/>
            <a:ext cx="10820400" cy="1028700"/>
          </a:xfrm>
          <a:prstGeom prst="roundRect">
            <a:avLst>
              <a:gd name="adj" fmla="val 148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32766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练完没反馈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3657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C6672"/>
                </a:solidFill>
              </a:defRPr>
            </a:pPr>
            <a:r>
              <a:rPr sz="1275" b="0">
                <a:solidFill>
                  <a:srgbClr val="5C6672"/>
                </a:solidFill>
              </a:rPr>
              <a:t>不知道自己说了什么、哪里不够好，更不知道下一步怎么改。</a:t>
            </a:r>
            <a:endParaRPr sz="1275" b="0">
              <a:solidFill>
                <a:srgbClr val="5C6672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4286250"/>
            <a:ext cx="10820400" cy="1028700"/>
          </a:xfrm>
          <a:prstGeom prst="roundRect">
            <a:avLst>
              <a:gd name="adj" fmla="val 148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44958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临场看不见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487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C6672"/>
                </a:solidFill>
              </a:defRPr>
            </a:pPr>
            <a:r>
              <a:rPr sz="1275" b="0">
                <a:solidFill>
                  <a:srgbClr val="5C6672"/>
                </a:solidFill>
              </a:rPr>
              <a:t>紧张、小动作、语速、表情——你自己根本看不见。</a:t>
            </a:r>
            <a:endParaRPr sz="1275" b="0">
              <a:solidFill>
                <a:srgbClr val="5C667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INSIGHT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真实面试考两件事：说了什么 + 怎么表现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02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847850"/>
            <a:ext cx="5276850" cy="2476500"/>
          </a:xfrm>
          <a:prstGeom prst="roundRect">
            <a:avLst>
              <a:gd name="adj" fmla="val 6154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21336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内容：说了什么</a:t>
            </a:r>
            <a:endParaRPr sz="1875" b="1">
              <a:solidFill>
                <a:srgbClr val="3D8D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609850"/>
            <a:ext cx="47053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4161A"/>
                </a:solidFill>
              </a:defRPr>
            </a:pPr>
            <a:r>
              <a:rPr sz="1350" b="0">
                <a:solidFill>
                  <a:srgbClr val="14161A"/>
                </a:solidFill>
              </a:rPr>
              <a:t>相关性 · 准确性 · 完整性</a:t>
            </a:r>
            <a:endParaRPr sz="1350" b="0">
              <a:solidFill>
                <a:srgbClr val="14161A"/>
              </a:solidFill>
            </a:endParaRPr>
          </a:p>
          <a:p>
            <a:pPr>
              <a:defRPr sz="1350" b="0">
                <a:solidFill>
                  <a:srgbClr val="14161A"/>
                </a:solidFill>
              </a:defRPr>
            </a:pPr>
            <a:r>
              <a:rPr sz="1350" b="0">
                <a:solidFill>
                  <a:srgbClr val="14161A"/>
                </a:solidFill>
              </a:rPr>
              <a:t>表达清晰度 · 语气词 · 回答时长</a:t>
            </a:r>
            <a:endParaRPr sz="1350" b="0">
              <a:solidFill>
                <a:srgbClr val="14161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29350" y="1847850"/>
            <a:ext cx="5276850" cy="2476500"/>
          </a:xfrm>
          <a:prstGeom prst="roundRect">
            <a:avLst>
              <a:gd name="adj" fmla="val 6154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15100" y="21336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表现：怎么表现</a:t>
            </a:r>
            <a:endParaRPr sz="1875" b="1">
              <a:solidFill>
                <a:srgbClr val="3D8D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15100" y="2609850"/>
            <a:ext cx="47053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4161A"/>
                </a:solidFill>
              </a:defRPr>
            </a:pPr>
            <a:r>
              <a:rPr sz="1350" b="0">
                <a:solidFill>
                  <a:srgbClr val="14161A"/>
                </a:solidFill>
              </a:rPr>
              <a:t>表情自然度 · 动作幅度</a:t>
            </a:r>
            <a:endParaRPr sz="1350" b="0">
              <a:solidFill>
                <a:srgbClr val="14161A"/>
              </a:solidFill>
            </a:endParaRPr>
          </a:p>
          <a:p>
            <a:pPr>
              <a:defRPr sz="1350" b="0">
                <a:solidFill>
                  <a:srgbClr val="14161A"/>
                </a:solidFill>
              </a:defRPr>
            </a:pPr>
            <a:r>
              <a:rPr sz="1350" b="0">
                <a:solidFill>
                  <a:srgbClr val="14161A"/>
                </a:solidFill>
              </a:rPr>
              <a:t>紧张趋势 · 镜头感</a:t>
            </a:r>
            <a:endParaRPr sz="1350" b="0">
              <a:solidFill>
                <a:srgbClr val="14161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47053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传统练习只覆盖“内容”。一面把两件事放进同一场面试，一起采集、一起复盘。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PRODUCT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一面 = 一位有眼睛、有耳朵、有嘴巴的桌面面试官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03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6000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4161A"/>
                </a:solidFill>
              </a:defRPr>
            </a:pPr>
            <a:r>
              <a:rPr sz="1800" b="0">
                <a:solidFill>
                  <a:srgbClr val="14161A"/>
                </a:solidFill>
              </a:rPr>
              <a:t>把完整面试训练装进一块桌面硬件：</a:t>
            </a:r>
            <a:endParaRPr sz="1800" b="0">
              <a:solidFill>
                <a:srgbClr val="14161A"/>
              </a:solidFill>
            </a:endParaRPr>
          </a:p>
          <a:p>
            <a:pPr>
              <a:defRPr sz="1800" b="0">
                <a:solidFill>
                  <a:srgbClr val="14161A"/>
                </a:solidFill>
              </a:defRPr>
            </a:pPr>
            <a:r>
              <a:rPr sz="1800" b="0">
                <a:solidFill>
                  <a:srgbClr val="14161A"/>
                </a:solidFill>
              </a:rPr>
              <a:t>像真实面试一样听题、作答、被观察、被复盘。</a:t>
            </a:r>
            <a:endParaRPr sz="1800" b="0">
              <a:solidFill>
                <a:srgbClr val="14161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3371850"/>
            <a:ext cx="6000750" cy="590550"/>
          </a:xfrm>
          <a:prstGeom prst="roundRect">
            <a:avLst>
              <a:gd name="adj" fmla="val 258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3514725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听</a:t>
            </a:r>
            <a:endParaRPr sz="1500" b="1">
              <a:solidFill>
                <a:srgbClr val="3D8D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00200" y="351472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麦克风采集你的回答，ASR 实时转写</a:t>
            </a:r>
            <a:endParaRPr sz="1275" b="0">
              <a:solidFill>
                <a:srgbClr val="14161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4095750"/>
            <a:ext cx="6000750" cy="590550"/>
          </a:xfrm>
          <a:prstGeom prst="roundRect">
            <a:avLst>
              <a:gd name="adj" fmla="val 258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4238625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看</a:t>
            </a:r>
            <a:endParaRPr sz="1500" b="1">
              <a:solidFill>
                <a:srgbClr val="3D8D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00200" y="423862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GC2145 摄像头观察你的表情与动作</a:t>
            </a:r>
            <a:endParaRPr sz="1275" b="0">
              <a:solidFill>
                <a:srgbClr val="14161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" y="4819650"/>
            <a:ext cx="6000750" cy="590550"/>
          </a:xfrm>
          <a:prstGeom prst="roundRect">
            <a:avLst>
              <a:gd name="adj" fmla="val 258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4962525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说</a:t>
            </a:r>
            <a:endParaRPr sz="1500" b="1">
              <a:solidFill>
                <a:srgbClr val="3D8D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00200" y="496252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扬声器播报 AI 生成的面试题与点评</a:t>
            </a:r>
            <a:endParaRPr sz="1275" b="0">
              <a:solidFill>
                <a:srgbClr val="14161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5543550"/>
            <a:ext cx="6000750" cy="590550"/>
          </a:xfrm>
          <a:prstGeom prst="roundRect">
            <a:avLst>
              <a:gd name="adj" fmla="val 258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5686425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判</a:t>
            </a:r>
            <a:endParaRPr sz="1500" b="1">
              <a:solidFill>
                <a:srgbClr val="3D8D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00200" y="568642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大模型综合内容与临场表现，给出复盘</a:t>
            </a:r>
            <a:endParaRPr sz="1275" b="0">
              <a:solidFill>
                <a:srgbClr val="14161A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0" y="1752600"/>
            <a:ext cx="447675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7029450" y="52959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C6672"/>
                </a:solidFill>
              </a:defRPr>
            </a:pPr>
            <a:r>
              <a:rPr sz="1050" b="0">
                <a:solidFill>
                  <a:srgbClr val="5C6672"/>
                </a:solidFill>
              </a:rPr>
              <a:t>产品实拍</a:t>
            </a:r>
            <a:endParaRPr sz="1050" b="0">
              <a:solidFill>
                <a:srgbClr val="5C6672"/>
              </a:solidFill>
            </a:endParaRPr>
          </a:p>
        </p:txBody>
      </p:sp>
      <p:pic>
        <p:nvPicPr>
          <p:cNvPr id="17" name="图片 16" descr="微信图片_20260829015826_111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603875" y="2336165"/>
            <a:ext cx="4514215" cy="3387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EXPERIENCE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一场完整的面试，四步走完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04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847850"/>
            <a:ext cx="2533650" cy="3048000"/>
          </a:xfrm>
          <a:prstGeom prst="roundRect">
            <a:avLst>
              <a:gd name="adj" fmla="val 60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133600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</a:t>
            </a:r>
            <a:endParaRPr sz="2550" b="1">
              <a:solidFill>
                <a:srgbClr val="3D8D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6670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说主题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08610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C6672"/>
                </a:solidFill>
              </a:defRPr>
            </a:pPr>
            <a:r>
              <a:rPr sz="1200" b="0">
                <a:solidFill>
                  <a:srgbClr val="5C6672"/>
                </a:solidFill>
              </a:rPr>
              <a:t>按住 BOOT 说出面试主题，例如“Java 后端开发”</a:t>
            </a:r>
            <a:endParaRPr sz="1200" b="0">
              <a:solidFill>
                <a:srgbClr val="5C6672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48050" y="1847850"/>
            <a:ext cx="2533650" cy="3048000"/>
          </a:xfrm>
          <a:prstGeom prst="roundRect">
            <a:avLst>
              <a:gd name="adj" fmla="val 60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76650" y="2133600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</a:t>
            </a:r>
            <a:endParaRPr sz="2550" b="1">
              <a:solidFill>
                <a:srgbClr val="3D8D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76650" y="26670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听题作答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76650" y="308610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C6672"/>
                </a:solidFill>
              </a:defRPr>
            </a:pPr>
            <a:r>
              <a:rPr sz="1200" b="0">
                <a:solidFill>
                  <a:srgbClr val="5C6672"/>
                </a:solidFill>
              </a:rPr>
              <a:t>AI 连问两道题，你按键说话，语音实时转写</a:t>
            </a:r>
            <a:endParaRPr sz="1200" b="0">
              <a:solidFill>
                <a:srgbClr val="5C6672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10300" y="1847850"/>
            <a:ext cx="2533650" cy="3048000"/>
          </a:xfrm>
          <a:prstGeom prst="roundRect">
            <a:avLst>
              <a:gd name="adj" fmla="val 60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2133600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</a:t>
            </a:r>
            <a:endParaRPr sz="2550" b="1">
              <a:solidFill>
                <a:srgbClr val="3D8D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6670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全程记录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308610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C6672"/>
                </a:solidFill>
              </a:defRPr>
            </a:pPr>
            <a:r>
              <a:rPr sz="1200" b="0">
                <a:solidFill>
                  <a:srgbClr val="5C6672"/>
                </a:solidFill>
              </a:rPr>
              <a:t>摄像头每 2.5 秒采集一帧，观察临场表现</a:t>
            </a:r>
            <a:endParaRPr sz="1200" b="0">
              <a:solidFill>
                <a:srgbClr val="5C6672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972550" y="1847850"/>
            <a:ext cx="2533650" cy="3048000"/>
          </a:xfrm>
          <a:prstGeom prst="roundRect">
            <a:avLst>
              <a:gd name="adj" fmla="val 601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01150" y="2133600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4</a:t>
            </a:r>
            <a:endParaRPr sz="2550" b="1">
              <a:solidFill>
                <a:srgbClr val="3D8D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01150" y="26670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综合复盘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01150" y="308610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C6672"/>
                </a:solidFill>
              </a:defRPr>
            </a:pPr>
            <a:r>
              <a:rPr sz="1200" b="0">
                <a:solidFill>
                  <a:srgbClr val="5C6672"/>
                </a:solidFill>
              </a:rPr>
              <a:t>内容 + 表现趋势合并成一段语音总结</a:t>
            </a:r>
            <a:endParaRPr sz="1200" b="0">
              <a:solidFill>
                <a:srgbClr val="5C667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1816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整场是同一场 session：题目、回答、画面一起进入最终复盘。</a:t>
            </a:r>
            <a:endParaRPr sz="1350" b="0">
              <a:solidFill>
                <a:srgbClr val="5C667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BUILD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从原型到桌面设备：今天就能用的成品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05</a:t>
            </a:r>
            <a:endParaRPr sz="1500" b="1">
              <a:solidFill>
                <a:srgbClr val="B8BCC4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5800" y="2038350"/>
            <a:ext cx="3276600" cy="2457450"/>
          </a:xfrm>
          <a:prstGeom prst="roundRect">
            <a:avLst>
              <a:gd name="adj" fmla="val 6202"/>
            </a:avLst>
          </a:prstGeom>
        </p:spPr>
      </p:pic>
      <p:sp>
        <p:nvSpPr>
          <p:cNvPr id="5" name="矩形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" y="464820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C6672"/>
                </a:solidFill>
              </a:defRPr>
            </a:pPr>
            <a:r>
              <a:rPr sz="1125" b="0">
                <a:solidFill>
                  <a:srgbClr val="5C6672"/>
                </a:solidFill>
              </a:rPr>
              <a:t>产品实拍 ①</a:t>
            </a:r>
            <a:endParaRPr sz="1125" b="0">
              <a:solidFill>
                <a:srgbClr val="5C6672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57700" y="2038350"/>
            <a:ext cx="3276600" cy="2457450"/>
          </a:xfrm>
          <a:prstGeom prst="roundRect">
            <a:avLst>
              <a:gd name="adj" fmla="val 6202"/>
            </a:avLst>
          </a:prstGeom>
        </p:spPr>
      </p:pic>
      <p:sp>
        <p:nvSpPr>
          <p:cNvPr id="7" name="矩形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57700" y="464820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C6672"/>
                </a:solidFill>
              </a:defRPr>
            </a:pPr>
            <a:r>
              <a:rPr sz="1125" b="0">
                <a:solidFill>
                  <a:srgbClr val="5C6672"/>
                </a:solidFill>
              </a:rPr>
              <a:t>产品实拍 ②</a:t>
            </a:r>
            <a:endParaRPr sz="1125" b="0">
              <a:solidFill>
                <a:srgbClr val="5C6672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229600" y="2038350"/>
            <a:ext cx="3276600" cy="2457450"/>
          </a:xfrm>
          <a:prstGeom prst="roundRect">
            <a:avLst>
              <a:gd name="adj" fmla="val 6202"/>
            </a:avLst>
          </a:prstGeom>
        </p:spPr>
      </p:pic>
      <p:sp>
        <p:nvSpPr>
          <p:cNvPr id="9" name="矩形 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29600" y="464820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C6672"/>
                </a:solidFill>
              </a:defRPr>
            </a:pPr>
            <a:r>
              <a:rPr sz="1125" b="0">
                <a:solidFill>
                  <a:srgbClr val="5C6672"/>
                </a:solidFill>
              </a:rPr>
              <a:t>产品实拍 ③</a:t>
            </a:r>
            <a:endParaRPr sz="1125" b="0">
              <a:solidFill>
                <a:srgbClr val="5C667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1816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不是概念原型：固件已烧录验证、BLE 全链路跑通，一条命令即可复现。</a:t>
            </a:r>
            <a:endParaRPr sz="1350" b="0">
              <a:solidFill>
                <a:srgbClr val="5C6672"/>
              </a:solidFill>
            </a:endParaRPr>
          </a:p>
        </p:txBody>
      </p:sp>
      <p:pic>
        <p:nvPicPr>
          <p:cNvPr id="4" name="图片 3" descr="35aead9e41e51fa3a73eb305bec250d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483360" y="2369185"/>
            <a:ext cx="2908935" cy="2181860"/>
          </a:xfrm>
          <a:prstGeom prst="rect">
            <a:avLst/>
          </a:prstGeom>
        </p:spPr>
      </p:pic>
      <p:pic>
        <p:nvPicPr>
          <p:cNvPr id="6" name="图片 5" descr="776634155887c6521caa28365b83cd1a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rot="5400000">
            <a:off x="5299922" y="2369608"/>
            <a:ext cx="2909147" cy="2181860"/>
          </a:xfrm>
          <a:prstGeom prst="rect">
            <a:avLst/>
          </a:prstGeom>
        </p:spPr>
      </p:pic>
      <p:pic>
        <p:nvPicPr>
          <p:cNvPr id="8" name="图片 7" descr="50c3d2b0f68e68bec6f1bb6ef4ea75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8960697" y="2369608"/>
            <a:ext cx="2909147" cy="2181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INNOVATION 01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同时评价“说了什么”和“怎么表现”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06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847850"/>
            <a:ext cx="10820400" cy="2381250"/>
          </a:xfrm>
          <a:prstGeom prst="roundRect">
            <a:avLst>
              <a:gd name="adj" fmla="val 640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211455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一份复盘，双重视角——更接近真实面试官的综合判断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609850"/>
            <a:ext cx="102489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回答质量：相关性 · 准确性 · 完整性 · 清晰度 · 语气词 · 时长</a:t>
            </a:r>
            <a:endParaRPr sz="1350" b="0">
              <a:solidFill>
                <a:srgbClr val="5C6672"/>
              </a:solidFill>
            </a:endParaRPr>
          </a:p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临场表现：表情自然度 · 动作幅度 · 紧张趋势</a:t>
            </a:r>
            <a:endParaRPr sz="1350" b="0">
              <a:solidFill>
                <a:srgbClr val="5C6672"/>
              </a:solidFill>
            </a:endParaRPr>
          </a:p>
          <a:p>
            <a:pPr>
              <a:defRPr sz="1350" b="0">
                <a:solidFill>
                  <a:srgbClr val="5C6672"/>
                </a:solidFill>
              </a:defRPr>
            </a:pPr>
            <a:r>
              <a:rPr sz="1350" b="0">
                <a:solidFill>
                  <a:srgbClr val="5C6672"/>
                </a:solidFill>
              </a:rPr>
              <a:t>两道题的回答与整场画面，汇总成一段可执行的反馈</a:t>
            </a:r>
            <a:endParaRPr sz="1350" b="0">
              <a:solidFill>
                <a:srgbClr val="5C667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4610100"/>
            <a:ext cx="10820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只评价“内容”的练习，永远漏掉面试官真正盯着的那一半。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INNOVATION 02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用连续画面判断状态，而不是某一张照片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07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03835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4384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C6672"/>
                </a:solidFill>
              </a:defRPr>
            </a:pPr>
            <a:r>
              <a:rPr sz="1350" b="1">
                <a:solidFill>
                  <a:srgbClr val="5C6672"/>
                </a:solidFill>
              </a:rPr>
              <a:t>第 1 帧</a:t>
            </a:r>
            <a:endParaRPr sz="1350" b="1">
              <a:solidFill>
                <a:srgbClr val="5C6672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400300" y="203835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400300" y="24384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C6672"/>
                </a:solidFill>
              </a:defRPr>
            </a:pPr>
            <a:r>
              <a:rPr sz="1350" b="1">
                <a:solidFill>
                  <a:srgbClr val="5C6672"/>
                </a:solidFill>
              </a:rPr>
              <a:t>第 2 帧</a:t>
            </a:r>
            <a:endParaRPr sz="1350" b="1">
              <a:solidFill>
                <a:srgbClr val="5C6672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114800" y="203835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114800" y="24384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C6672"/>
                </a:solidFill>
              </a:defRPr>
            </a:pPr>
            <a:r>
              <a:rPr sz="1350" b="1">
                <a:solidFill>
                  <a:srgbClr val="5C6672"/>
                </a:solidFill>
              </a:rPr>
              <a:t>第 3 帧</a:t>
            </a:r>
            <a:endParaRPr sz="1350" b="1">
              <a:solidFill>
                <a:srgbClr val="5C6672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829300" y="203835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829300" y="24384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C6672"/>
                </a:solidFill>
              </a:defRPr>
            </a:pPr>
            <a:r>
              <a:rPr sz="1350" b="1">
                <a:solidFill>
                  <a:srgbClr val="5C6672"/>
                </a:solidFill>
              </a:rPr>
              <a:t>…</a:t>
            </a:r>
            <a:endParaRPr sz="1350" b="1">
              <a:solidFill>
                <a:srgbClr val="5C6672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543800" y="203835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543800" y="24384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C6672"/>
                </a:solidFill>
              </a:defRPr>
            </a:pPr>
            <a:r>
              <a:rPr sz="1350" b="1">
                <a:solidFill>
                  <a:srgbClr val="5C6672"/>
                </a:solidFill>
              </a:rPr>
              <a:t>第 N 帧</a:t>
            </a:r>
            <a:endParaRPr sz="1350" b="1">
              <a:solidFill>
                <a:srgbClr val="5C667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4099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GC2145 每 2.5 秒一帧 → 按时间顺序多帧分析 → 输出“紧张/动作”趋势</a:t>
            </a:r>
            <a:endParaRPr sz="1350" b="1">
              <a:solidFill>
                <a:srgbClr val="3D8D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4038600"/>
            <a:ext cx="108204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关注“是否逐渐紧张”“动作是否越来越多”，而不是因为某一刻眨眼、转头、停顿就下结论。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INNOVATION 03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反馈可以验证：引用你的原话，给出下一步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08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847850"/>
            <a:ext cx="10820400" cy="2095500"/>
          </a:xfrm>
          <a:prstGeom prst="roundRect">
            <a:avLst>
              <a:gd name="adj" fmla="val 7273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211455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C6672"/>
                </a:solidFill>
              </a:defRPr>
            </a:pPr>
            <a:r>
              <a:rPr sz="1500" b="0">
                <a:solidFill>
                  <a:srgbClr val="5C6672"/>
                </a:solidFill>
              </a:rPr>
              <a:t>不再是一句“表达需要提升”</a:t>
            </a:r>
            <a:endParaRPr sz="1500" b="0">
              <a:solidFill>
                <a:srgbClr val="5C667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495550"/>
            <a:ext cx="10248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“你的回答提到做了项目，但没有给出量化结果，结论也不够明确——</a:t>
            </a:r>
            <a:endParaRPr sz="1800" b="1">
              <a:solidFill>
                <a:srgbClr val="14161A"/>
              </a:solidFill>
            </a:endParaRPr>
          </a:p>
          <a:p>
            <a:pPr>
              <a:defRPr sz="1800" b="1">
                <a:solidFill>
                  <a:srgbClr val="14161A"/>
                </a:solidFill>
              </a:defRPr>
            </a:pPr>
            <a:r>
              <a:rPr sz="1800" b="1">
                <a:solidFill>
                  <a:srgbClr val="14161A"/>
                </a:solidFill>
              </a:rPr>
              <a:t>下次先用一句话概括结论，再补一个数字和一个例子。”</a:t>
            </a:r>
            <a:endParaRPr sz="1800" b="1">
              <a:solidFill>
                <a:srgbClr val="14161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4324350"/>
            <a:ext cx="108204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每条建议都落在你真正说过的话上，改哪里、怎么改，一目了然。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ARCHITECTURE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Agent for the real world：感官 + 表达 + 大模型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09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943100"/>
            <a:ext cx="1965960" cy="2000250"/>
          </a:xfrm>
          <a:prstGeom prst="roundRect">
            <a:avLst>
              <a:gd name="adj" fmla="val 775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152650"/>
            <a:ext cx="16230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硬件 Agent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819400"/>
            <a:ext cx="162306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麦克风 · 摄像头</a:t>
            </a:r>
            <a:endParaRPr sz="1050" b="0">
              <a:solidFill>
                <a:srgbClr val="14161A"/>
              </a:solidFill>
            </a:endParaRPr>
          </a:p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扬声器 · LCD 表情</a:t>
            </a:r>
            <a:endParaRPr sz="1050" b="0">
              <a:solidFill>
                <a:srgbClr val="14161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13660" y="2781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  <a:endParaRPr sz="1650" b="1">
              <a:solidFill>
                <a:srgbClr val="B8BCC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899410" y="1943100"/>
            <a:ext cx="1965960" cy="2000250"/>
          </a:xfrm>
          <a:prstGeom prst="roundRect">
            <a:avLst>
              <a:gd name="adj" fmla="val 775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070860" y="2152650"/>
            <a:ext cx="16230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BLE 通道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70860" y="2819400"/>
            <a:ext cx="162306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语音 PCM · JPEG 画面</a:t>
            </a:r>
            <a:endParaRPr sz="1050" b="0">
              <a:solidFill>
                <a:srgbClr val="14161A"/>
              </a:solidFill>
            </a:endParaRPr>
          </a:p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控制指令 · 事件</a:t>
            </a:r>
            <a:endParaRPr sz="1050" b="0">
              <a:solidFill>
                <a:srgbClr val="14161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27270" y="2781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  <a:endParaRPr sz="1650" b="1">
              <a:solidFill>
                <a:srgbClr val="B8BCC4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113020" y="1943100"/>
            <a:ext cx="1965960" cy="2000250"/>
          </a:xfrm>
          <a:prstGeom prst="roundRect">
            <a:avLst>
              <a:gd name="adj" fmla="val 775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84470" y="2152650"/>
            <a:ext cx="16230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Web 蓝牙页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84470" y="2819400"/>
            <a:ext cx="162306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连接 · 状态机</a:t>
            </a:r>
            <a:endParaRPr sz="1050" b="0">
              <a:solidFill>
                <a:srgbClr val="14161A"/>
              </a:solidFill>
            </a:endParaRPr>
          </a:p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图像重组</a:t>
            </a:r>
            <a:endParaRPr sz="1050" b="0">
              <a:solidFill>
                <a:srgbClr val="14161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0880" y="2781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  <a:endParaRPr sz="1650" b="1">
              <a:solidFill>
                <a:srgbClr val="B8BCC4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326630" y="1943100"/>
            <a:ext cx="1965960" cy="2000250"/>
          </a:xfrm>
          <a:prstGeom prst="roundRect">
            <a:avLst>
              <a:gd name="adj" fmla="val 775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98080" y="2152650"/>
            <a:ext cx="16230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Python Host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98080" y="2819400"/>
            <a:ext cx="162306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ASR · DeepSeek</a:t>
            </a:r>
            <a:endParaRPr sz="1050" b="0">
              <a:solidFill>
                <a:srgbClr val="14161A"/>
              </a:solidFill>
            </a:endParaRPr>
          </a:p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TTS · Qwen-VL</a:t>
            </a:r>
            <a:endParaRPr sz="1050" b="0">
              <a:solidFill>
                <a:srgbClr val="14161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54490" y="2781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  <a:endParaRPr sz="1650" b="1">
              <a:solidFill>
                <a:srgbClr val="B8BCC4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40240" y="1943100"/>
            <a:ext cx="1965960" cy="2000250"/>
          </a:xfrm>
          <a:prstGeom prst="roundRect">
            <a:avLst>
              <a:gd name="adj" fmla="val 775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711690" y="2152650"/>
            <a:ext cx="16230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云端模型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11690" y="2819400"/>
            <a:ext cx="162306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实时转写 · 出题点评</a:t>
            </a:r>
            <a:endParaRPr sz="1050" b="0">
              <a:solidFill>
                <a:srgbClr val="14161A"/>
              </a:solidFill>
            </a:endParaRPr>
          </a:p>
          <a:p>
            <a:pPr>
              <a:defRPr sz="1050" b="0">
                <a:solidFill>
                  <a:srgbClr val="14161A"/>
                </a:solidFill>
              </a:defRPr>
            </a:pPr>
            <a:r>
              <a:rPr sz="1050" b="0">
                <a:solidFill>
                  <a:srgbClr val="14161A"/>
                </a:solidFill>
              </a:rPr>
              <a:t>语音合成 · 视觉分析</a:t>
            </a:r>
            <a:endParaRPr sz="1050" b="0">
              <a:solidFill>
                <a:srgbClr val="14161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4419600"/>
            <a:ext cx="108204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技术是手段，不是目的：</a:t>
            </a:r>
            <a:endParaRPr sz="1650" b="1">
              <a:solidFill>
                <a:srgbClr val="14161A"/>
              </a:solidFill>
            </a:endParaRPr>
          </a:p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它真的来到现实世界：能听、能看、能说、有表情，并解决一个真实问题——</a:t>
            </a:r>
            <a:endParaRPr sz="1650" b="1">
              <a:solidFill>
                <a:srgbClr val="14161A"/>
              </a:solidFill>
            </a:endParaRPr>
          </a:p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技术服务于“硬件采集、自然交互、整场复盘、可执行改进”这一核心体验。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85800" y="609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SCALABILITY</a:t>
            </a:r>
            <a:endParaRPr sz="975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525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4161A"/>
                </a:solidFill>
              </a:defRPr>
            </a:pPr>
            <a:r>
              <a:rPr sz="2700" b="1">
                <a:solidFill>
                  <a:srgbClr val="14161A"/>
                </a:solidFill>
              </a:rPr>
              <a:t>同一套系统，扩展到一切表达训练</a:t>
            </a:r>
            <a:endParaRPr sz="2700" b="1">
              <a:solidFill>
                <a:srgbClr val="14161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34700" y="9525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10</a:t>
            </a:r>
            <a:endParaRPr sz="1500" b="1">
              <a:solidFill>
                <a:srgbClr val="B8BCC4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03835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24790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技术面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438525" y="203835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438525" y="224790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产品面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191250" y="203835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224790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英语口语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943975" y="203835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43975" y="224790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演讲排练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304800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25755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论文答辩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438525" y="304800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38525" y="325755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客服培训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0" y="304800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91250" y="325755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销售话术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943975" y="3048000"/>
            <a:ext cx="2562225" cy="819150"/>
          </a:xfrm>
          <a:prstGeom prst="roundRect">
            <a:avLst>
              <a:gd name="adj" fmla="val 186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943975" y="3257550"/>
            <a:ext cx="2562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公务员面试</a:t>
            </a:r>
            <a:endParaRPr sz="1650" b="1">
              <a:solidFill>
                <a:srgbClr val="14161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086350"/>
            <a:ext cx="10820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161A"/>
                </a:solidFill>
              </a:defRPr>
            </a:pPr>
            <a:r>
              <a:rPr sz="1650" b="1">
                <a:solidFill>
                  <a:srgbClr val="14161A"/>
                </a:solidFill>
              </a:rPr>
              <a:t>只需替换主题与评价维度，即成面向不同岗位或课程的专用训练器。</a:t>
            </a:r>
            <a:endParaRPr sz="1650" b="1">
              <a:solidFill>
                <a:srgbClr val="14161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圆角矩形 10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oundRect">
            <a:avLst>
              <a:gd name="adj" fmla="val 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23825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今天可用，明天更懂你</a:t>
            </a:r>
            <a:endParaRPr sz="1500" b="1">
              <a:solidFill>
                <a:srgbClr val="3D8DFF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914400" y="1905000"/>
            <a:ext cx="5905500" cy="914400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20574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现在</a:t>
            </a:r>
            <a:endParaRPr sz="1350" b="1">
              <a:solidFill>
                <a:srgbClr val="3D8D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057400" y="205740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2 题模式 · 本地 Host · 完整链路已跑通</a:t>
            </a:r>
            <a:endParaRPr sz="1275" b="0">
              <a:solidFill>
                <a:srgbClr val="14161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3009900"/>
            <a:ext cx="5905500" cy="914400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31623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下一步</a:t>
            </a:r>
            <a:endParaRPr sz="1350" b="1">
              <a:solidFill>
                <a:srgbClr val="3D8D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57400" y="316230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4161A"/>
                </a:solidFill>
              </a:defRPr>
            </a:pPr>
            <a:r>
              <a:rPr sz="1275" b="0">
                <a:solidFill>
                  <a:srgbClr val="14161A"/>
                </a:solidFill>
              </a:rPr>
              <a:t>3–5 题随机 · 历史记录与趋势曲线 · 人体关键点模型 · Wi-Fi 传输 · 鉴权部署</a:t>
            </a:r>
            <a:endParaRPr sz="1275" b="0">
              <a:solidFill>
                <a:srgbClr val="14161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4476750"/>
            <a:ext cx="990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161A"/>
                </a:solidFill>
              </a:defRPr>
            </a:pPr>
            <a:r>
              <a:rPr sz="2250" b="1">
                <a:solidFill>
                  <a:srgbClr val="14161A"/>
                </a:solidFill>
              </a:rPr>
              <a:t>一面——让每个认真准备的人，</a:t>
            </a:r>
            <a:endParaRPr sz="2250" b="1">
              <a:solidFill>
                <a:srgbClr val="14161A"/>
              </a:solidFill>
            </a:endParaRPr>
          </a:p>
          <a:p>
            <a:pPr>
              <a:defRPr sz="2250" b="1">
                <a:solidFill>
                  <a:srgbClr val="14161A"/>
                </a:solidFill>
              </a:defRPr>
            </a:pPr>
            <a:r>
              <a:rPr sz="2250" b="1">
                <a:solidFill>
                  <a:srgbClr val="14161A"/>
                </a:solidFill>
              </a:rPr>
              <a:t>都能先和“真实的自己”见一面。</a:t>
            </a:r>
            <a:endParaRPr sz="2250" b="1">
              <a:solidFill>
                <a:srgbClr val="14161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56197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C6672"/>
                </a:solidFill>
              </a:defRPr>
            </a:pPr>
            <a:r>
              <a:rPr sz="1500" b="0">
                <a:solidFill>
                  <a:srgbClr val="5C6672"/>
                </a:solidFill>
              </a:rPr>
              <a:t>谢谢各位评委 · 期待指教</a:t>
            </a:r>
            <a:endParaRPr sz="1500" b="0">
              <a:solidFill>
                <a:srgbClr val="5C6672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2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3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4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5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6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7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ags/tag8.xml><?xml version="1.0" encoding="utf-8"?>
<p:tagLst xmlns:p="http://schemas.openxmlformats.org/presentationml/2006/main">
  <p:tag name="KSO_WM_DIAGRAM_VIRTUALLY_FRAME" val="{&quot;height&quot;:257.94166564941406,&quot;left&quot;:54,&quot;top&quot;:157.925,&quot;width&quot;:861.7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WPS 演示</Application>
  <PresentationFormat>Converted Presentation</PresentationFormat>
  <Paragraphs>248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微信用户</cp:lastModifiedBy>
  <cp:revision>1</cp:revision>
  <dcterms:created xsi:type="dcterms:W3CDTF">2026-08-28T19:24:48Z</dcterms:created>
  <dcterms:modified xsi:type="dcterms:W3CDTF">2026-08-28T19:24:48Z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598FE02ABE4A45DBAEDF07987D482CCD_12</vt:lpwstr>
  </property>
</Properties>
</file>